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BE497A-71C4-439C-A327-7023CC6CAC0E}">
  <a:tblStyle styleId="{6CBE497A-71C4-439C-A327-7023CC6CAC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cee165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cee165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cee165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cee165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cee1652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0cee165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f3f3cbf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f3f3cbf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cee165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0cee165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9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Sentinel-AI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38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lt1"/>
                </a:solidFill>
              </a:rPr>
              <a:t>Voice &amp; Motion Activated Multimodal Edge Security System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475875" y="3302575"/>
            <a:ext cx="32199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Presenters 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Md Nasim Afroj Taj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Mughesh Kumar NR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Uttam Kumar Saha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Motivation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Traditional CCTV systems record continuously, causing large energy and storage waste. Cloud-based surveillance introduces privacy risks and latency issues, while most systems lack context awareness. Sentinel-AI aims to create a smart, self-aware, voice-activated security camera that 'listens, thinks, and acts' only when needed, entirely offline on the Jetson Nano.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Energy Efficiency – Wake on voice to minimize power use.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Privacy &amp; Security – Local AI inference; no cloud required.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Multimodal Intelligence – Combines audio + vision for contextual understanding.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Real-world Impact – Ideal for smart homes, labs, and secure environments.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63575" y="111050"/>
            <a:ext cx="86688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Workflow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897375" y="1400663"/>
            <a:ext cx="1489374" cy="57272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Microphone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Wake-word</a:t>
            </a:r>
            <a:endParaRPr sz="1200"/>
          </a:p>
        </p:txBody>
      </p:sp>
      <p:sp>
        <p:nvSpPr>
          <p:cNvPr id="69" name="Google Shape;69;p15"/>
          <p:cNvSpPr/>
          <p:nvPr/>
        </p:nvSpPr>
        <p:spPr>
          <a:xfrm>
            <a:off x="897369" y="2129775"/>
            <a:ext cx="1489374" cy="572724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(Face Detection)</a:t>
            </a:r>
            <a:endParaRPr sz="1200"/>
          </a:p>
        </p:txBody>
      </p:sp>
      <p:sp>
        <p:nvSpPr>
          <p:cNvPr id="70" name="Google Shape;70;p15"/>
          <p:cNvSpPr/>
          <p:nvPr/>
        </p:nvSpPr>
        <p:spPr>
          <a:xfrm>
            <a:off x="7089600" y="1743862"/>
            <a:ext cx="1390500" cy="615438"/>
          </a:xfrm>
          <a:prstGeom prst="flowChartTerminator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Buzzer / Speaker 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088" y="1501641"/>
            <a:ext cx="804930" cy="3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100" y="2230754"/>
            <a:ext cx="804930" cy="3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1188" y="1885775"/>
            <a:ext cx="585725" cy="3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3224025" y="763525"/>
            <a:ext cx="3154500" cy="25761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6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9"/>
          </a:p>
        </p:txBody>
      </p:sp>
      <p:sp>
        <p:nvSpPr>
          <p:cNvPr id="75" name="Google Shape;75;p15"/>
          <p:cNvSpPr txBox="1"/>
          <p:nvPr/>
        </p:nvSpPr>
        <p:spPr>
          <a:xfrm>
            <a:off x="3357825" y="974000"/>
            <a:ext cx="2886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00" lIns="69200" spcFirstLastPara="1" rIns="69200" wrap="square" tIns="692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32">
                <a:solidFill>
                  <a:schemeClr val="dk1"/>
                </a:solidFill>
              </a:rPr>
              <a:t>      NVIDIA JETSON NANO</a:t>
            </a:r>
            <a:r>
              <a:rPr b="1" lang="en" sz="1962">
                <a:solidFill>
                  <a:schemeClr val="dk1"/>
                </a:solidFill>
              </a:rPr>
              <a:t> </a:t>
            </a:r>
            <a:endParaRPr sz="1362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341400" y="1675825"/>
            <a:ext cx="1316400" cy="1145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497D"/>
                </a:solidFill>
              </a:rPr>
              <a:t>Audio AI</a:t>
            </a:r>
            <a:endParaRPr b="1" sz="1200">
              <a:solidFill>
                <a:srgbClr val="1F497D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Wake word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Cmd recog</a:t>
            </a:r>
            <a:endParaRPr sz="1200"/>
          </a:p>
        </p:txBody>
      </p:sp>
      <p:sp>
        <p:nvSpPr>
          <p:cNvPr id="77" name="Google Shape;77;p15"/>
          <p:cNvSpPr/>
          <p:nvPr/>
        </p:nvSpPr>
        <p:spPr>
          <a:xfrm>
            <a:off x="4968775" y="1675825"/>
            <a:ext cx="1316400" cy="1145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00" lIns="69200" spcFirstLastPara="1" rIns="69200" wrap="square" tIns="69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497D"/>
                </a:solidFill>
              </a:rPr>
              <a:t>Vision AI</a:t>
            </a:r>
            <a:endParaRPr b="1" sz="1200">
              <a:solidFill>
                <a:srgbClr val="1F497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Object detect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Face recog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399996">
            <a:off x="4508400" y="3570751"/>
            <a:ext cx="585725" cy="3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3284769" y="4029432"/>
            <a:ext cx="3033018" cy="884898"/>
          </a:xfrm>
          <a:prstGeom prst="flowChartTermina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Recording DATA store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to  </a:t>
            </a:r>
            <a:r>
              <a:rPr lang="en"/>
              <a:t>microSD/SSD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Hardware Requirements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088" y="1017713"/>
            <a:ext cx="2954612" cy="29546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6"/>
          <p:cNvGraphicFramePr/>
          <p:nvPr/>
        </p:nvGraphicFramePr>
        <p:xfrm>
          <a:off x="311700" y="10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{6CBE497A-71C4-439C-A327-7023CC6CAC0E}</a:tableStyleId>
              </a:tblPr>
              <a:tblGrid>
                <a:gridCol w="3563025"/>
                <a:gridCol w="167787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Component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Estimated Cost (USD)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NVIDIA Jetson Nano (4 GB Dev Kit)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$99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Camera Module (USB / Pi Cam V2)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MEMS Mic Array (e.g., ReSpeaker 2-Mic HAT)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$20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Buzzer / Mini Speaker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LED Indicator (optional)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32 GB MicroSD Card (UHS-1)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$10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5 V 4 A Power Supply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Breadboard &amp; Jumper Wires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Monitor &amp; HDMI Cable (optional)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" name="Google Shape;87;p16"/>
          <p:cNvSpPr txBox="1"/>
          <p:nvPr/>
        </p:nvSpPr>
        <p:spPr>
          <a:xfrm>
            <a:off x="5763100" y="4277850"/>
            <a:ext cx="30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total hardware cost: $150 – $170 USD.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Software Requirements (Probable)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75"/>
            <a:ext cx="42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Operating System &amp; Environment: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JetPack 5.x (Ubuntu 20.04 L4T with CUDA, cuDNN, TensorRT)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Python 3.8 + pip / virtualenv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AI Frameworks &amp; Libraries: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Wake-word detection:</a:t>
            </a:r>
            <a:r>
              <a:rPr lang="en" sz="1100">
                <a:solidFill>
                  <a:schemeClr val="lt1"/>
                </a:solidFill>
              </a:rPr>
              <a:t> Mycroft Precise / Picovoice Porcupine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Speech command:</a:t>
            </a:r>
            <a:r>
              <a:rPr lang="en" sz="1100">
                <a:solidFill>
                  <a:schemeClr val="lt1"/>
                </a:solidFill>
              </a:rPr>
              <a:t> jetson-voice / Whisper-tiny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Object detection:</a:t>
            </a:r>
            <a:r>
              <a:rPr lang="en" sz="1100">
                <a:solidFill>
                  <a:schemeClr val="lt1"/>
                </a:solidFill>
              </a:rPr>
              <a:t> YOLOv5-Nano / SSD MobileNet-V2 (PyTorch → TensorRT)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Face recognition:</a:t>
            </a:r>
            <a:r>
              <a:rPr lang="en" sz="1100">
                <a:solidFill>
                  <a:schemeClr val="lt1"/>
                </a:solidFill>
              </a:rPr>
              <a:t> face_recognition (Dlib) / DeepFace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Optimization &amp; vision:</a:t>
            </a:r>
            <a:r>
              <a:rPr lang="en" sz="1100">
                <a:solidFill>
                  <a:schemeClr val="lt1"/>
                </a:solidFill>
              </a:rPr>
              <a:t> TensorRT, OpenCV, NumPy, Matplotlib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0" y="1152475"/>
            <a:ext cx="42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System &amp; Integration Tools: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Jetson-Inference / Jetson-Utils (camera + inference)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Flask / MQTT (local alert dashboard)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ReSpeaker drivers (microphone support)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Tegrastats (performance monitoring)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Development &amp; Deployment Tools: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VS Code / JupyterLab for coding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Git + GitHub for version control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PuTTY / Termius for SSH access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NVIDIA SDK Manager for setup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Docker / Jetson Containers for runtime isolation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Draw.io / PowerPoint for workflow &amp; presentation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You!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