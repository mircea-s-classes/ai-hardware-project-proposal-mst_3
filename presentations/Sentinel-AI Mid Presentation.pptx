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Antonio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BBBE02F-8A3E-40C0-885D-B55698408066}">
  <a:tblStyle styleId="{4BBBE02F-8A3E-40C0-885D-B5569840806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329AF87-6A19-479D-B1D8-CC81563404F5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22" Type="http://schemas.openxmlformats.org/officeDocument/2006/relationships/font" Target="fonts/Antonio-bold.fntdata"/><Relationship Id="rId10" Type="http://schemas.openxmlformats.org/officeDocument/2006/relationships/slide" Target="slides/slide4.xml"/><Relationship Id="rId21" Type="http://schemas.openxmlformats.org/officeDocument/2006/relationships/font" Target="fonts/Antonio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0cee1652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a0cee1652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efdb3e881_3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efdb3e881_3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0cee1652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0cee1652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efdb3e881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efdb3e881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efdb3e881_3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efdb3e881_3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ecedf50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ecedf50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ecedf50b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ecedf50b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ecedf50b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ecedf50b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0cee1652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0cee1652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LuPJjdMOXv3SbgIl76WZuO5UrYrhOYxE/view" TargetMode="External"/><Relationship Id="rId4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692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ntonio"/>
                <a:ea typeface="Antonio"/>
                <a:cs typeface="Antonio"/>
                <a:sym typeface="Antonio"/>
              </a:rPr>
              <a:t>Sentinel-AI</a:t>
            </a:r>
            <a:endParaRPr>
              <a:solidFill>
                <a:schemeClr val="lt1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038550"/>
            <a:ext cx="8520600" cy="12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3"/>
              <a:buFont typeface="Arial"/>
              <a:buNone/>
            </a:pPr>
            <a:r>
              <a:rPr lang="en" sz="5200">
                <a:solidFill>
                  <a:schemeClr val="lt1"/>
                </a:solidFill>
              </a:rPr>
              <a:t>Voice &amp; Motion Activated Multimodal Edge Security System</a:t>
            </a:r>
            <a:endParaRPr sz="5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3"/>
              <a:buFont typeface="Arial"/>
              <a:buNone/>
            </a:pPr>
            <a:r>
              <a:t/>
            </a:r>
            <a:endParaRPr sz="5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3"/>
              <a:buFont typeface="Arial"/>
              <a:buNone/>
            </a:pPr>
            <a:r>
              <a:rPr i="1" lang="en" sz="5200" u="sng">
                <a:solidFill>
                  <a:schemeClr val="lt1"/>
                </a:solidFill>
              </a:rPr>
              <a:t>Mid Presentation</a:t>
            </a:r>
            <a:endParaRPr i="1" sz="5200" u="sng">
              <a:solidFill>
                <a:schemeClr val="lt1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475875" y="3302575"/>
            <a:ext cx="3219900" cy="16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Presenters : </a:t>
            </a:r>
            <a:endParaRPr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Mughesh Kumar NR</a:t>
            </a:r>
            <a:endParaRPr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Md Nasim Afroj Taj</a:t>
            </a:r>
            <a:endParaRPr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Uttam Kumar Saha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1700" y="415650"/>
            <a:ext cx="97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lt2"/>
                </a:solidFill>
              </a:rPr>
              <a:t>MST_3</a:t>
            </a:r>
            <a:endParaRPr b="1" i="1"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158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Motivation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823325"/>
            <a:ext cx="8624700" cy="40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Traditional CCTV wastes energy and storage by recording nonstop. Cloud systems add privacy risks, latency, and dependence on external servers. Most cameras also lack true context awareness. Sentinel-AI solves this by being a smart, offline, voice-activated security camera that “listens, thinks, and acts” only when needed -running entirely on the Jetson Nano.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Achieve real-time inference with high FPS on Jetson Nano using optimized TensorRT models.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Detect wake-word fast and trigger camera activation.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Recognize faces and objects locally with high accuracy.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Maintain system power draw at minimum during active operation.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Demonstrate fully offline functionality (no cloud dependency).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Team Roles</a:t>
            </a:r>
            <a:endParaRPr>
              <a:solidFill>
                <a:schemeClr val="lt1"/>
              </a:solidFill>
            </a:endParaRPr>
          </a:p>
        </p:txBody>
      </p:sp>
      <p:graphicFrame>
        <p:nvGraphicFramePr>
          <p:cNvPr id="70" name="Google Shape;70;p15"/>
          <p:cNvGraphicFramePr/>
          <p:nvPr/>
        </p:nvGraphicFramePr>
        <p:xfrm>
          <a:off x="952500" y="1714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{4BBBE02F-8A3E-40C0-885D-B55698408066}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Name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Role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Mugesh Kumar NR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Software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Md Nasim Afroj Taj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Hardware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Uttam Kumar Saha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Integration, Evaluation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163575" y="111050"/>
            <a:ext cx="86688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Workflow</a:t>
            </a:r>
            <a:endParaRPr b="1">
              <a:solidFill>
                <a:schemeClr val="lt1"/>
              </a:solidFill>
            </a:endParaRPr>
          </a:p>
        </p:txBody>
      </p:sp>
      <p:grpSp>
        <p:nvGrpSpPr>
          <p:cNvPr id="77" name="Google Shape;77;p16"/>
          <p:cNvGrpSpPr/>
          <p:nvPr/>
        </p:nvGrpSpPr>
        <p:grpSpPr>
          <a:xfrm>
            <a:off x="4911275" y="821275"/>
            <a:ext cx="3154500" cy="4136425"/>
            <a:chOff x="4911275" y="821275"/>
            <a:chExt cx="3154500" cy="4136425"/>
          </a:xfrm>
        </p:grpSpPr>
        <p:grpSp>
          <p:nvGrpSpPr>
            <p:cNvPr id="78" name="Google Shape;78;p16"/>
            <p:cNvGrpSpPr/>
            <p:nvPr/>
          </p:nvGrpSpPr>
          <p:grpSpPr>
            <a:xfrm>
              <a:off x="5793275" y="3674875"/>
              <a:ext cx="1390500" cy="1282825"/>
              <a:chOff x="5793275" y="3674875"/>
              <a:chExt cx="1390500" cy="1282825"/>
            </a:xfrm>
          </p:grpSpPr>
          <p:sp>
            <p:nvSpPr>
              <p:cNvPr id="79" name="Google Shape;79;p16"/>
              <p:cNvSpPr/>
              <p:nvPr/>
            </p:nvSpPr>
            <p:spPr>
              <a:xfrm>
                <a:off x="5793275" y="4342262"/>
                <a:ext cx="1390500" cy="615438"/>
              </a:xfrm>
              <a:prstGeom prst="flowChartTerminator">
                <a:avLst/>
              </a:prstGeom>
              <a:solidFill>
                <a:srgbClr val="FF00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Buzzer / Speaker </a:t>
                </a:r>
                <a:endParaRPr/>
              </a:p>
            </p:txBody>
          </p:sp>
          <p:pic>
            <p:nvPicPr>
              <p:cNvPr id="80" name="Google Shape;80;p1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5399996">
                <a:off x="6195662" y="3801926"/>
                <a:ext cx="585725" cy="3316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1" name="Google Shape;81;p16"/>
            <p:cNvGrpSpPr/>
            <p:nvPr/>
          </p:nvGrpSpPr>
          <p:grpSpPr>
            <a:xfrm>
              <a:off x="4911275" y="821275"/>
              <a:ext cx="3154500" cy="2853600"/>
              <a:chOff x="4911288" y="821275"/>
              <a:chExt cx="3154500" cy="2853600"/>
            </a:xfrm>
          </p:grpSpPr>
          <p:sp>
            <p:nvSpPr>
              <p:cNvPr id="82" name="Google Shape;82;p16"/>
              <p:cNvSpPr/>
              <p:nvPr/>
            </p:nvSpPr>
            <p:spPr>
              <a:xfrm>
                <a:off x="4911288" y="821275"/>
                <a:ext cx="3154500" cy="2853600"/>
              </a:xfrm>
              <a:prstGeom prst="roundRect">
                <a:avLst>
                  <a:gd fmla="val 16667" name="adj"/>
                </a:avLst>
              </a:prstGeom>
              <a:solidFill>
                <a:srgbClr val="C9DAF8"/>
              </a:solidFill>
              <a:ln cap="flat" cmpd="sng" w="72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9200" lIns="69200" spcFirstLastPara="1" rIns="69200" wrap="square" tIns="6920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sz="1362">
                  <a:solidFill>
                    <a:schemeClr val="dk1"/>
                  </a:solidFill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59"/>
              </a:p>
            </p:txBody>
          </p:sp>
          <p:sp>
            <p:nvSpPr>
              <p:cNvPr id="83" name="Google Shape;83;p16"/>
              <p:cNvSpPr txBox="1"/>
              <p:nvPr/>
            </p:nvSpPr>
            <p:spPr>
              <a:xfrm>
                <a:off x="5045087" y="943750"/>
                <a:ext cx="2886900" cy="441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69200" lIns="69200" spcFirstLastPara="1" rIns="69200" wrap="square" tIns="69200">
                <a:sp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" sz="1432">
                    <a:solidFill>
                      <a:schemeClr val="dk1"/>
                    </a:solidFill>
                  </a:rPr>
                  <a:t>      NVIDIA JETSON NANO</a:t>
                </a:r>
                <a:r>
                  <a:rPr b="1" lang="en" sz="1962">
                    <a:solidFill>
                      <a:schemeClr val="dk1"/>
                    </a:solidFill>
                  </a:rPr>
                  <a:t> </a:t>
                </a:r>
                <a:endParaRPr sz="1362">
                  <a:solidFill>
                    <a:schemeClr val="dk2"/>
                  </a:solidFill>
                </a:endParaRPr>
              </a:p>
            </p:txBody>
          </p:sp>
          <p:sp>
            <p:nvSpPr>
              <p:cNvPr id="84" name="Google Shape;84;p16"/>
              <p:cNvSpPr/>
              <p:nvPr/>
            </p:nvSpPr>
            <p:spPr>
              <a:xfrm>
                <a:off x="5028663" y="1523100"/>
                <a:ext cx="1316400" cy="1145700"/>
              </a:xfrm>
              <a:prstGeom prst="roundRect">
                <a:avLst>
                  <a:gd fmla="val 16667" name="adj"/>
                </a:avLst>
              </a:prstGeom>
              <a:solidFill>
                <a:srgbClr val="D9EAD3"/>
              </a:solidFill>
              <a:ln cap="flat" cmpd="sng" w="72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9200" lIns="69200" spcFirstLastPara="1" rIns="69200" wrap="square" tIns="69200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F497D"/>
                    </a:solidFill>
                  </a:rPr>
                  <a:t>Audio AI</a:t>
                </a:r>
                <a:endParaRPr b="1" sz="1200">
                  <a:solidFill>
                    <a:srgbClr val="1F497D"/>
                  </a:solidFill>
                </a:endParaRPr>
              </a:p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</a:rPr>
                  <a:t>Wake word</a:t>
                </a:r>
                <a:endParaRPr sz="1200">
                  <a:solidFill>
                    <a:schemeClr val="dk1"/>
                  </a:solidFill>
                </a:endParaRPr>
              </a:p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</a:rPr>
                  <a:t>Cmd reco</a:t>
                </a:r>
                <a:r>
                  <a:rPr lang="en" sz="1200">
                    <a:solidFill>
                      <a:schemeClr val="dk1"/>
                    </a:solidFill>
                  </a:rPr>
                  <a:t>g</a:t>
                </a:r>
                <a:endParaRPr sz="1200"/>
              </a:p>
            </p:txBody>
          </p:sp>
          <p:sp>
            <p:nvSpPr>
              <p:cNvPr id="85" name="Google Shape;85;p16"/>
              <p:cNvSpPr/>
              <p:nvPr/>
            </p:nvSpPr>
            <p:spPr>
              <a:xfrm>
                <a:off x="6656038" y="1523100"/>
                <a:ext cx="1316400" cy="1145700"/>
              </a:xfrm>
              <a:prstGeom prst="roundRect">
                <a:avLst>
                  <a:gd fmla="val 16667" name="adj"/>
                </a:avLst>
              </a:prstGeom>
              <a:solidFill>
                <a:srgbClr val="D9EAD3"/>
              </a:solidFill>
              <a:ln cap="flat" cmpd="sng" w="72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9200" lIns="69200" spcFirstLastPara="1" rIns="69200" wrap="square" tIns="692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F497D"/>
                    </a:solidFill>
                  </a:rPr>
                  <a:t>Vision AI</a:t>
                </a:r>
                <a:endParaRPr b="1" sz="1200">
                  <a:solidFill>
                    <a:srgbClr val="1F497D"/>
                  </a:solidFill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</a:rPr>
                  <a:t>Object detect</a:t>
                </a:r>
                <a:endParaRPr sz="1200">
                  <a:solidFill>
                    <a:schemeClr val="dk1"/>
                  </a:solidFill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</a:rPr>
                  <a:t>Face recog</a:t>
                </a:r>
                <a:endParaRPr sz="1200">
                  <a:solidFill>
                    <a:schemeClr val="dk1"/>
                  </a:solidFill>
                </a:endParaRPr>
              </a:p>
            </p:txBody>
          </p:sp>
          <p:sp>
            <p:nvSpPr>
              <p:cNvPr id="86" name="Google Shape;86;p16"/>
              <p:cNvSpPr/>
              <p:nvPr/>
            </p:nvSpPr>
            <p:spPr>
              <a:xfrm>
                <a:off x="4972031" y="2723223"/>
                <a:ext cx="3033018" cy="884898"/>
              </a:xfrm>
              <a:prstGeom prst="flowChartTerminator">
                <a:avLst/>
              </a:prstGeom>
              <a:solidFill>
                <a:srgbClr val="00FF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Recording DATA </a:t>
                </a:r>
                <a:endParaRPr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Store</a:t>
                </a:r>
                <a:r>
                  <a:rPr lang="en"/>
                  <a:t> </a:t>
                </a:r>
                <a:r>
                  <a:rPr lang="en"/>
                  <a:t>to </a:t>
                </a:r>
                <a:r>
                  <a:rPr lang="en"/>
                  <a:t>microSD/SSD</a:t>
                </a:r>
                <a:endParaRPr sz="1100"/>
              </a:p>
            </p:txBody>
          </p:sp>
        </p:grpSp>
      </p:grpSp>
      <p:grpSp>
        <p:nvGrpSpPr>
          <p:cNvPr id="87" name="Google Shape;87;p16"/>
          <p:cNvGrpSpPr/>
          <p:nvPr/>
        </p:nvGrpSpPr>
        <p:grpSpPr>
          <a:xfrm>
            <a:off x="388750" y="1394088"/>
            <a:ext cx="4511680" cy="1457436"/>
            <a:chOff x="181600" y="1261013"/>
            <a:chExt cx="4511680" cy="1457436"/>
          </a:xfrm>
        </p:grpSpPr>
        <p:sp>
          <p:nvSpPr>
            <p:cNvPr id="88" name="Google Shape;88;p16"/>
            <p:cNvSpPr/>
            <p:nvPr/>
          </p:nvSpPr>
          <p:spPr>
            <a:xfrm>
              <a:off x="181600" y="1261013"/>
              <a:ext cx="1616436" cy="572724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Microphone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Wake-word/signal</a:t>
              </a:r>
              <a:endParaRPr sz="1200"/>
            </a:p>
          </p:txBody>
        </p:sp>
        <p:sp>
          <p:nvSpPr>
            <p:cNvPr id="89" name="Google Shape;89;p16"/>
            <p:cNvSpPr/>
            <p:nvPr/>
          </p:nvSpPr>
          <p:spPr>
            <a:xfrm>
              <a:off x="2271913" y="1703375"/>
              <a:ext cx="1616436" cy="572724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Camera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(Face Detection)</a:t>
              </a:r>
              <a:endParaRPr sz="1200"/>
            </a:p>
          </p:txBody>
        </p:sp>
        <p:pic>
          <p:nvPicPr>
            <p:cNvPr id="90" name="Google Shape;90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480075" y="1804343"/>
              <a:ext cx="804930" cy="370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" name="Google Shape;91;p16"/>
            <p:cNvSpPr/>
            <p:nvPr/>
          </p:nvSpPr>
          <p:spPr>
            <a:xfrm>
              <a:off x="181600" y="2145725"/>
              <a:ext cx="1616436" cy="572724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Motion Sensor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Movement</a:t>
              </a:r>
              <a:endParaRPr sz="1200"/>
            </a:p>
          </p:txBody>
        </p:sp>
        <p:pic>
          <p:nvPicPr>
            <p:cNvPr id="92" name="Google Shape;92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888350" y="1804341"/>
              <a:ext cx="804930" cy="3707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3" name="Google Shape;9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Hardware Requirements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99" name="Google Shape;9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3088" y="1017713"/>
            <a:ext cx="2954612" cy="295461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0" name="Google Shape;100;p17"/>
          <p:cNvGraphicFramePr/>
          <p:nvPr/>
        </p:nvGraphicFramePr>
        <p:xfrm>
          <a:off x="311700" y="108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{E329AF87-6A19-479D-B1D8-CC81563404F5}</a:tableStyleId>
              </a:tblPr>
              <a:tblGrid>
                <a:gridCol w="3563025"/>
                <a:gridCol w="1677875"/>
              </a:tblGrid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Component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Estimated Cost (USD)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NVIDIA Jetson Nano (4 GB Dev Kit)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lt1"/>
                          </a:solidFill>
                        </a:rPr>
                        <a:t>$99</a:t>
                      </a:r>
                      <a:endParaRPr i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Camera Module (USB / Pi Cam V2)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lt1"/>
                          </a:solidFill>
                        </a:rPr>
                        <a:t>$25</a:t>
                      </a:r>
                      <a:endParaRPr i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MEMS Mic Array (e.g., ReSpeaker 2-Mic HAT)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lt1"/>
                          </a:solidFill>
                        </a:rPr>
                        <a:t>$20</a:t>
                      </a:r>
                      <a:endParaRPr i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Buzzer / Mini Speaker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lt1"/>
                          </a:solidFill>
                        </a:rPr>
                        <a:t>$5</a:t>
                      </a:r>
                      <a:endParaRPr i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lt1"/>
                          </a:solidFill>
                        </a:rPr>
                        <a:t>LED Indicator (optional)</a:t>
                      </a:r>
                      <a:endParaRPr i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lt1"/>
                          </a:solidFill>
                        </a:rPr>
                        <a:t>$2</a:t>
                      </a:r>
                      <a:endParaRPr i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32 GB MicroSD Card (UHS-1)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lt1"/>
                          </a:solidFill>
                        </a:rPr>
                        <a:t>$10</a:t>
                      </a:r>
                      <a:endParaRPr i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5V 4A Power Supply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lt1"/>
                          </a:solidFill>
                        </a:rPr>
                        <a:t>$15</a:t>
                      </a:r>
                      <a:endParaRPr i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Breadboard &amp; Jumper Wires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lt1"/>
                          </a:solidFill>
                        </a:rPr>
                        <a:t>$5</a:t>
                      </a:r>
                      <a:endParaRPr i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lt1"/>
                          </a:solidFill>
                        </a:rPr>
                        <a:t>Monitor &amp; HDMI Cable (optional)</a:t>
                      </a:r>
                      <a:endParaRPr i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lt1"/>
                          </a:solidFill>
                        </a:rPr>
                        <a:t>$15</a:t>
                      </a:r>
                      <a:endParaRPr i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1" name="Google Shape;101;p17"/>
          <p:cNvSpPr txBox="1"/>
          <p:nvPr/>
        </p:nvSpPr>
        <p:spPr>
          <a:xfrm>
            <a:off x="5763100" y="4277850"/>
            <a:ext cx="3077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Estimated total hardware cost: $150 – $170 USD.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02" name="Google Shape;10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163575" y="111050"/>
            <a:ext cx="86688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Workflow</a:t>
            </a:r>
            <a:endParaRPr b="1">
              <a:solidFill>
                <a:schemeClr val="lt1"/>
              </a:solidFill>
            </a:endParaRPr>
          </a:p>
        </p:txBody>
      </p:sp>
      <p:grpSp>
        <p:nvGrpSpPr>
          <p:cNvPr id="108" name="Google Shape;108;p18"/>
          <p:cNvGrpSpPr/>
          <p:nvPr/>
        </p:nvGrpSpPr>
        <p:grpSpPr>
          <a:xfrm>
            <a:off x="4911275" y="821275"/>
            <a:ext cx="3154500" cy="4136425"/>
            <a:chOff x="4911275" y="821275"/>
            <a:chExt cx="3154500" cy="4136425"/>
          </a:xfrm>
        </p:grpSpPr>
        <p:grpSp>
          <p:nvGrpSpPr>
            <p:cNvPr id="109" name="Google Shape;109;p18"/>
            <p:cNvGrpSpPr/>
            <p:nvPr/>
          </p:nvGrpSpPr>
          <p:grpSpPr>
            <a:xfrm>
              <a:off x="5793275" y="3674875"/>
              <a:ext cx="1390500" cy="1282825"/>
              <a:chOff x="5793275" y="3674875"/>
              <a:chExt cx="1390500" cy="1282825"/>
            </a:xfrm>
          </p:grpSpPr>
          <p:sp>
            <p:nvSpPr>
              <p:cNvPr id="110" name="Google Shape;110;p18"/>
              <p:cNvSpPr/>
              <p:nvPr/>
            </p:nvSpPr>
            <p:spPr>
              <a:xfrm>
                <a:off x="5793275" y="4342262"/>
                <a:ext cx="1390500" cy="615438"/>
              </a:xfrm>
              <a:prstGeom prst="flowChartTerminator">
                <a:avLst/>
              </a:prstGeom>
              <a:solidFill>
                <a:srgbClr val="FF00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Buzzer / Speaker </a:t>
                </a:r>
                <a:endParaRPr/>
              </a:p>
            </p:txBody>
          </p:sp>
          <p:pic>
            <p:nvPicPr>
              <p:cNvPr id="111" name="Google Shape;111;p18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5399996">
                <a:off x="6195662" y="3801926"/>
                <a:ext cx="585725" cy="3316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2" name="Google Shape;112;p18"/>
            <p:cNvGrpSpPr/>
            <p:nvPr/>
          </p:nvGrpSpPr>
          <p:grpSpPr>
            <a:xfrm>
              <a:off x="4911275" y="821275"/>
              <a:ext cx="3154500" cy="2853600"/>
              <a:chOff x="4911288" y="821275"/>
              <a:chExt cx="3154500" cy="2853600"/>
            </a:xfrm>
          </p:grpSpPr>
          <p:sp>
            <p:nvSpPr>
              <p:cNvPr id="113" name="Google Shape;113;p18"/>
              <p:cNvSpPr/>
              <p:nvPr/>
            </p:nvSpPr>
            <p:spPr>
              <a:xfrm>
                <a:off x="4911288" y="821275"/>
                <a:ext cx="3154500" cy="2853600"/>
              </a:xfrm>
              <a:prstGeom prst="roundRect">
                <a:avLst>
                  <a:gd fmla="val 16667" name="adj"/>
                </a:avLst>
              </a:prstGeom>
              <a:solidFill>
                <a:srgbClr val="C9DAF8"/>
              </a:solidFill>
              <a:ln cap="flat" cmpd="sng" w="72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9200" lIns="69200" spcFirstLastPara="1" rIns="69200" wrap="square" tIns="6920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sz="1362">
                  <a:solidFill>
                    <a:schemeClr val="dk1"/>
                  </a:solidFill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59"/>
              </a:p>
            </p:txBody>
          </p:sp>
          <p:sp>
            <p:nvSpPr>
              <p:cNvPr id="114" name="Google Shape;114;p18"/>
              <p:cNvSpPr txBox="1"/>
              <p:nvPr/>
            </p:nvSpPr>
            <p:spPr>
              <a:xfrm>
                <a:off x="5045087" y="943750"/>
                <a:ext cx="2886900" cy="441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69200" lIns="69200" spcFirstLastPara="1" rIns="69200" wrap="square" tIns="69200">
                <a:sp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" sz="1432">
                    <a:solidFill>
                      <a:schemeClr val="dk1"/>
                    </a:solidFill>
                  </a:rPr>
                  <a:t>      NVIDIA JETSON NANO</a:t>
                </a:r>
                <a:r>
                  <a:rPr b="1" lang="en" sz="1962">
                    <a:solidFill>
                      <a:schemeClr val="dk1"/>
                    </a:solidFill>
                  </a:rPr>
                  <a:t> </a:t>
                </a:r>
                <a:endParaRPr sz="1362">
                  <a:solidFill>
                    <a:schemeClr val="dk2"/>
                  </a:solidFill>
                </a:endParaRPr>
              </a:p>
            </p:txBody>
          </p:sp>
          <p:sp>
            <p:nvSpPr>
              <p:cNvPr id="115" name="Google Shape;115;p18"/>
              <p:cNvSpPr/>
              <p:nvPr/>
            </p:nvSpPr>
            <p:spPr>
              <a:xfrm>
                <a:off x="5028663" y="1523100"/>
                <a:ext cx="1316400" cy="1145700"/>
              </a:xfrm>
              <a:prstGeom prst="roundRect">
                <a:avLst>
                  <a:gd fmla="val 16667" name="adj"/>
                </a:avLst>
              </a:prstGeom>
              <a:solidFill>
                <a:srgbClr val="D9EAD3"/>
              </a:solidFill>
              <a:ln cap="flat" cmpd="sng" w="72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9200" lIns="69200" spcFirstLastPara="1" rIns="69200" wrap="square" tIns="69200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F497D"/>
                    </a:solidFill>
                  </a:rPr>
                  <a:t>Audio AI</a:t>
                </a:r>
                <a:endParaRPr b="1" sz="1200">
                  <a:solidFill>
                    <a:srgbClr val="1F497D"/>
                  </a:solidFill>
                </a:endParaRPr>
              </a:p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</a:rPr>
                  <a:t>Wake word</a:t>
                </a:r>
                <a:endParaRPr sz="1200">
                  <a:solidFill>
                    <a:schemeClr val="dk1"/>
                  </a:solidFill>
                </a:endParaRPr>
              </a:p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</a:rPr>
                  <a:t>Cmd recog</a:t>
                </a:r>
                <a:endParaRPr sz="1200"/>
              </a:p>
            </p:txBody>
          </p:sp>
          <p:sp>
            <p:nvSpPr>
              <p:cNvPr id="116" name="Google Shape;116;p18"/>
              <p:cNvSpPr/>
              <p:nvPr/>
            </p:nvSpPr>
            <p:spPr>
              <a:xfrm>
                <a:off x="6656038" y="1523100"/>
                <a:ext cx="1316400" cy="1145700"/>
              </a:xfrm>
              <a:prstGeom prst="roundRect">
                <a:avLst>
                  <a:gd fmla="val 16667" name="adj"/>
                </a:avLst>
              </a:prstGeom>
              <a:solidFill>
                <a:srgbClr val="D9EAD3"/>
              </a:solidFill>
              <a:ln cap="flat" cmpd="sng" w="72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9200" lIns="69200" spcFirstLastPara="1" rIns="69200" wrap="square" tIns="692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F497D"/>
                    </a:solidFill>
                  </a:rPr>
                  <a:t>Vision AI</a:t>
                </a:r>
                <a:endParaRPr b="1" sz="1200">
                  <a:solidFill>
                    <a:srgbClr val="1F497D"/>
                  </a:solidFill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</a:rPr>
                  <a:t>Object detect</a:t>
                </a:r>
                <a:endParaRPr sz="1200">
                  <a:solidFill>
                    <a:schemeClr val="dk1"/>
                  </a:solidFill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</a:rPr>
                  <a:t>Face recog</a:t>
                </a:r>
                <a:endParaRPr sz="1200">
                  <a:solidFill>
                    <a:schemeClr val="dk1"/>
                  </a:solidFill>
                </a:endParaRPr>
              </a:p>
            </p:txBody>
          </p:sp>
          <p:sp>
            <p:nvSpPr>
              <p:cNvPr id="117" name="Google Shape;117;p18"/>
              <p:cNvSpPr/>
              <p:nvPr/>
            </p:nvSpPr>
            <p:spPr>
              <a:xfrm>
                <a:off x="4972031" y="2723223"/>
                <a:ext cx="3033018" cy="884898"/>
              </a:xfrm>
              <a:prstGeom prst="flowChartTerminator">
                <a:avLst/>
              </a:prstGeom>
              <a:solidFill>
                <a:srgbClr val="00FF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Recording DATA </a:t>
                </a:r>
                <a:endParaRPr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Store to microSD/SSD</a:t>
                </a:r>
                <a:endParaRPr sz="1100"/>
              </a:p>
            </p:txBody>
          </p:sp>
        </p:grpSp>
      </p:grpSp>
      <p:grpSp>
        <p:nvGrpSpPr>
          <p:cNvPr id="118" name="Google Shape;118;p18"/>
          <p:cNvGrpSpPr/>
          <p:nvPr/>
        </p:nvGrpSpPr>
        <p:grpSpPr>
          <a:xfrm>
            <a:off x="388750" y="1394088"/>
            <a:ext cx="4511680" cy="1457436"/>
            <a:chOff x="181600" y="1261013"/>
            <a:chExt cx="4511680" cy="1457436"/>
          </a:xfrm>
        </p:grpSpPr>
        <p:sp>
          <p:nvSpPr>
            <p:cNvPr id="119" name="Google Shape;119;p18"/>
            <p:cNvSpPr/>
            <p:nvPr/>
          </p:nvSpPr>
          <p:spPr>
            <a:xfrm>
              <a:off x="181600" y="1261013"/>
              <a:ext cx="1616436" cy="572724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Microphone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Wake-word/signal</a:t>
              </a:r>
              <a:endParaRPr sz="1200"/>
            </a:p>
          </p:txBody>
        </p:sp>
        <p:sp>
          <p:nvSpPr>
            <p:cNvPr id="120" name="Google Shape;120;p18"/>
            <p:cNvSpPr/>
            <p:nvPr/>
          </p:nvSpPr>
          <p:spPr>
            <a:xfrm>
              <a:off x="2271913" y="1703375"/>
              <a:ext cx="1616436" cy="572724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Camera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(Face Detection)</a:t>
              </a:r>
              <a:endParaRPr sz="1200"/>
            </a:p>
          </p:txBody>
        </p:sp>
        <p:pic>
          <p:nvPicPr>
            <p:cNvPr id="121" name="Google Shape;121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480075" y="1804343"/>
              <a:ext cx="804930" cy="370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" name="Google Shape;122;p18"/>
            <p:cNvSpPr/>
            <p:nvPr/>
          </p:nvSpPr>
          <p:spPr>
            <a:xfrm>
              <a:off x="181600" y="2145725"/>
              <a:ext cx="1616436" cy="572724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Motion Sensor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Movement</a:t>
              </a:r>
              <a:endParaRPr sz="1200"/>
            </a:p>
          </p:txBody>
        </p:sp>
        <p:pic>
          <p:nvPicPr>
            <p:cNvPr id="123" name="Google Shape;123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888350" y="1804341"/>
              <a:ext cx="804930" cy="3707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24" name="Google Shape;124;p18"/>
          <p:cNvCxnSpPr/>
          <p:nvPr/>
        </p:nvCxnSpPr>
        <p:spPr>
          <a:xfrm>
            <a:off x="406235" y="1411588"/>
            <a:ext cx="1590300" cy="544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18"/>
          <p:cNvCxnSpPr/>
          <p:nvPr/>
        </p:nvCxnSpPr>
        <p:spPr>
          <a:xfrm>
            <a:off x="406235" y="2299338"/>
            <a:ext cx="1590300" cy="544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" name="Google Shape;126;p18"/>
          <p:cNvCxnSpPr/>
          <p:nvPr/>
        </p:nvCxnSpPr>
        <p:spPr>
          <a:xfrm>
            <a:off x="5016135" y="1583258"/>
            <a:ext cx="1326600" cy="1026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" name="Google Shape;127;p18"/>
          <p:cNvCxnSpPr/>
          <p:nvPr/>
        </p:nvCxnSpPr>
        <p:spPr>
          <a:xfrm>
            <a:off x="5693385" y="4376188"/>
            <a:ext cx="1590300" cy="5448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" name="Google Shape;12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Algorithm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4" name="Google Shape;134;p19"/>
          <p:cNvSpPr txBox="1"/>
          <p:nvPr>
            <p:ph idx="1" type="body"/>
          </p:nvPr>
        </p:nvSpPr>
        <p:spPr>
          <a:xfrm>
            <a:off x="311700" y="1152475"/>
            <a:ext cx="4727400" cy="37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36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46"/>
              <a:buChar char="●"/>
            </a:pPr>
            <a:r>
              <a:rPr lang="en" sz="1145">
                <a:solidFill>
                  <a:schemeClr val="lt1"/>
                </a:solidFill>
              </a:rPr>
              <a:t>MTCNN is a deep learning model used for face detection and for finding key facial points like the eyes, nose, and mouth.</a:t>
            </a:r>
            <a:endParaRPr sz="1145">
              <a:solidFill>
                <a:schemeClr val="lt1"/>
              </a:solidFill>
            </a:endParaRPr>
          </a:p>
          <a:p>
            <a:pPr indent="-30136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46"/>
              <a:buChar char="●"/>
            </a:pPr>
            <a:r>
              <a:rPr lang="en" sz="1145">
                <a:solidFill>
                  <a:schemeClr val="lt1"/>
                </a:solidFill>
              </a:rPr>
              <a:t>It is considered a lightweight model because it needs very little training data. MTCNN can work well even with around 4 training images, while regular CNN models usually need more than 1000 images to reach good accuracy.</a:t>
            </a:r>
            <a:endParaRPr sz="1145">
              <a:solidFill>
                <a:schemeClr val="lt1"/>
              </a:solidFill>
            </a:endParaRPr>
          </a:p>
          <a:p>
            <a:pPr indent="-30136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46"/>
              <a:buChar char="●"/>
            </a:pPr>
            <a:r>
              <a:rPr lang="en" sz="1145">
                <a:solidFill>
                  <a:schemeClr val="lt1"/>
                </a:solidFill>
              </a:rPr>
              <a:t>MTCNN has three main parts: </a:t>
            </a:r>
            <a:r>
              <a:rPr b="1" lang="en" sz="1145">
                <a:solidFill>
                  <a:schemeClr val="lt1"/>
                </a:solidFill>
              </a:rPr>
              <a:t>P-Net, R-Net, and O-Net</a:t>
            </a:r>
            <a:r>
              <a:rPr lang="en" sz="1145">
                <a:solidFill>
                  <a:schemeClr val="lt1"/>
                </a:solidFill>
              </a:rPr>
              <a:t>.</a:t>
            </a:r>
            <a:br>
              <a:rPr lang="en" sz="1145">
                <a:solidFill>
                  <a:schemeClr val="lt1"/>
                </a:solidFill>
              </a:rPr>
            </a:br>
            <a:endParaRPr sz="1145">
              <a:solidFill>
                <a:schemeClr val="lt1"/>
              </a:solidFill>
            </a:endParaRPr>
          </a:p>
          <a:p>
            <a:pPr indent="-30136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46"/>
              <a:buChar char="●"/>
            </a:pPr>
            <a:r>
              <a:rPr b="1" lang="en" sz="1145">
                <a:solidFill>
                  <a:schemeClr val="lt1"/>
                </a:solidFill>
              </a:rPr>
              <a:t>P-Net</a:t>
            </a:r>
            <a:r>
              <a:rPr lang="en" sz="1145">
                <a:solidFill>
                  <a:schemeClr val="lt1"/>
                </a:solidFill>
              </a:rPr>
              <a:t> stands for Proposal Network. It gives the first set of possible face regions.</a:t>
            </a:r>
            <a:br>
              <a:rPr lang="en" sz="1145">
                <a:solidFill>
                  <a:schemeClr val="lt1"/>
                </a:solidFill>
              </a:rPr>
            </a:br>
            <a:endParaRPr sz="1145">
              <a:solidFill>
                <a:schemeClr val="lt1"/>
              </a:solidFill>
            </a:endParaRPr>
          </a:p>
          <a:p>
            <a:pPr indent="-30136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46"/>
              <a:buChar char="●"/>
            </a:pPr>
            <a:r>
              <a:rPr b="1" lang="en" sz="1145">
                <a:solidFill>
                  <a:schemeClr val="lt1"/>
                </a:solidFill>
              </a:rPr>
              <a:t>R-Net</a:t>
            </a:r>
            <a:r>
              <a:rPr lang="en" sz="1145">
                <a:solidFill>
                  <a:schemeClr val="lt1"/>
                </a:solidFill>
              </a:rPr>
              <a:t> is the Refine Network. It checks these regions again and improves the bounding boxes.</a:t>
            </a:r>
            <a:br>
              <a:rPr lang="en" sz="1145">
                <a:solidFill>
                  <a:schemeClr val="lt1"/>
                </a:solidFill>
              </a:rPr>
            </a:br>
            <a:endParaRPr sz="1145">
              <a:solidFill>
                <a:schemeClr val="lt1"/>
              </a:solidFill>
            </a:endParaRPr>
          </a:p>
          <a:p>
            <a:pPr indent="-30136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46"/>
              <a:buChar char="●"/>
            </a:pPr>
            <a:r>
              <a:rPr b="1" lang="en" sz="1145">
                <a:solidFill>
                  <a:schemeClr val="lt1"/>
                </a:solidFill>
              </a:rPr>
              <a:t>O-Net</a:t>
            </a:r>
            <a:r>
              <a:rPr lang="en" sz="1145">
                <a:solidFill>
                  <a:schemeClr val="lt1"/>
                </a:solidFill>
              </a:rPr>
              <a:t> is the Output Network. It gives the final results, including the exact face area and the facial landmarks.</a:t>
            </a:r>
            <a:br>
              <a:rPr lang="en" sz="1145">
                <a:solidFill>
                  <a:schemeClr val="lt1"/>
                </a:solidFill>
              </a:rPr>
            </a:br>
            <a:endParaRPr sz="1145">
              <a:solidFill>
                <a:schemeClr val="lt1"/>
              </a:solidFill>
            </a:endParaRPr>
          </a:p>
          <a:p>
            <a:pPr indent="-30136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46"/>
              <a:buChar char="●"/>
            </a:pPr>
            <a:r>
              <a:rPr lang="en" sz="1145">
                <a:solidFill>
                  <a:schemeClr val="lt1"/>
                </a:solidFill>
              </a:rPr>
              <a:t>All three networks are small convolutional neural networks, which makes the whole model fast. </a:t>
            </a:r>
            <a:r>
              <a:rPr lang="en" sz="457">
                <a:solidFill>
                  <a:schemeClr val="dk1"/>
                </a:solidFill>
              </a:rPr>
              <a:t>efficient.</a:t>
            </a:r>
            <a:endParaRPr sz="45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t/>
            </a:r>
            <a:endParaRPr sz="490">
              <a:solidFill>
                <a:srgbClr val="EEF0FF"/>
              </a:solidFill>
              <a:highlight>
                <a:srgbClr val="1F1F1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490">
              <a:solidFill>
                <a:srgbClr val="EEF0FF"/>
              </a:solidFill>
              <a:highlight>
                <a:srgbClr val="1F1F1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5" name="Google Shape;13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9100" y="1626000"/>
            <a:ext cx="4023000" cy="284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>
            <p:ph type="title"/>
          </p:nvPr>
        </p:nvSpPr>
        <p:spPr>
          <a:xfrm>
            <a:off x="311700" y="52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Demo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2" name="Google Shape;14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43" name="Google Shape;143;p20" title="Recording 2025-12-09 12331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540800"/>
            <a:ext cx="8566025" cy="460269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Future Work (Final)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0" name="Google Shape;15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AutoNum type="arabicPeriod"/>
            </a:pPr>
            <a:r>
              <a:rPr lang="en" sz="1600">
                <a:solidFill>
                  <a:schemeClr val="lt1"/>
                </a:solidFill>
              </a:rPr>
              <a:t>Jetson Nano Deployment – Implement and optimize the system on Jetson Nano hardware.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AutoNum type="arabicPeriod"/>
            </a:pPr>
            <a:r>
              <a:rPr lang="en" sz="1600">
                <a:solidFill>
                  <a:schemeClr val="lt1"/>
                </a:solidFill>
              </a:rPr>
              <a:t>Algorithm Verification – Cross-check performance against the target application’s algorithm.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AutoNum type="arabicPeriod"/>
            </a:pPr>
            <a:r>
              <a:rPr lang="en" sz="1600">
                <a:solidFill>
                  <a:schemeClr val="lt1"/>
                </a:solidFill>
              </a:rPr>
              <a:t>Accuracy Improvement – Enhance model precision and reduce false positives/negatives.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AutoNum type="arabicPeriod"/>
            </a:pPr>
            <a:r>
              <a:rPr lang="en" sz="1600">
                <a:solidFill>
                  <a:schemeClr val="lt1"/>
                </a:solidFill>
              </a:rPr>
              <a:t>Debugging &amp; Optimization – Fix remaining bugs and streamline performance.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AutoNum type="arabicPeriod"/>
            </a:pPr>
            <a:r>
              <a:rPr lang="en" sz="1600">
                <a:solidFill>
                  <a:schemeClr val="lt1"/>
                </a:solidFill>
              </a:rPr>
              <a:t>Robust System Design – Strengthen the architecture for stable, real-world operation.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51" name="Google Shape;15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Thank You!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57" name="Google Shape;15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