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Antonio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ACCB4B-F3A8-4BB8-B9B0-80214B2C35FC}">
  <a:tblStyle styleId="{25ACCB4B-F3A8-4BB8-B9B0-80214B2C35F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ntoni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font" Target="fonts/Antoni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cee1652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cee1652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cee1652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cee1652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cee1652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0cee1652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0f3f3cbf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0f3f3cbf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0cee1652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0cee1652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9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tonio"/>
                <a:ea typeface="Antonio"/>
                <a:cs typeface="Antonio"/>
                <a:sym typeface="Antonio"/>
              </a:rPr>
              <a:t>Sentinel-AI</a:t>
            </a:r>
            <a:endParaRPr>
              <a:solidFill>
                <a:schemeClr val="lt1"/>
              </a:solidFill>
              <a:latin typeface="Antonio"/>
              <a:ea typeface="Antonio"/>
              <a:cs typeface="Antonio"/>
              <a:sym typeface="Antoni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038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" sz="5200">
                <a:solidFill>
                  <a:schemeClr val="lt1"/>
                </a:solidFill>
              </a:rPr>
              <a:t>Voice &amp; Motion Activated Multimodal Edge Security System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475875" y="3302575"/>
            <a:ext cx="32199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Presenters :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Md Nasim Afroj Taj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Mughesh Kumar NR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Uttam Kumar Saha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Motivation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23325"/>
            <a:ext cx="86247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Traditional CCTV systems record continuously, causing large energy and storage waste. Cloud-based surveillance introduces privacy risks and latency issues, while most systems lack context awareness. Sentinel-AI aims to create a smart, self-aware, voice-activated security camera that 'listens, thinks, and acts' only when needed, entirely offline on the Jetson Nano.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Energy Efficiency – Wake on voice to minimize power use.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Privacy &amp; Security – Local AI inference; no cloud required.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Multimodal Intelligence – Combines audio + vision for contextual understanding.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Real-world Impact – Ideal for smart homes, labs, and secure environments.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63575" y="111050"/>
            <a:ext cx="86688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Workflow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4911275" y="821275"/>
            <a:ext cx="3154500" cy="4136425"/>
            <a:chOff x="4911275" y="821275"/>
            <a:chExt cx="3154500" cy="4136425"/>
          </a:xfrm>
        </p:grpSpPr>
        <p:grpSp>
          <p:nvGrpSpPr>
            <p:cNvPr id="69" name="Google Shape;69;p15"/>
            <p:cNvGrpSpPr/>
            <p:nvPr/>
          </p:nvGrpSpPr>
          <p:grpSpPr>
            <a:xfrm>
              <a:off x="5793275" y="3674875"/>
              <a:ext cx="1390500" cy="1282825"/>
              <a:chOff x="5793275" y="3674875"/>
              <a:chExt cx="1390500" cy="1282825"/>
            </a:xfrm>
          </p:grpSpPr>
          <p:sp>
            <p:nvSpPr>
              <p:cNvPr id="70" name="Google Shape;70;p15"/>
              <p:cNvSpPr/>
              <p:nvPr/>
            </p:nvSpPr>
            <p:spPr>
              <a:xfrm>
                <a:off x="5793275" y="4342262"/>
                <a:ext cx="1390500" cy="615438"/>
              </a:xfrm>
              <a:prstGeom prst="flowChartTerminator">
                <a:avLst/>
              </a:prstGeom>
              <a:solidFill>
                <a:srgbClr val="FF00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Buzzer / Speaker </a:t>
                </a:r>
                <a:endParaRPr/>
              </a:p>
            </p:txBody>
          </p:sp>
          <p:pic>
            <p:nvPicPr>
              <p:cNvPr id="71" name="Google Shape;71;p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399996">
                <a:off x="6195662" y="3801926"/>
                <a:ext cx="585725" cy="331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2" name="Google Shape;72;p15"/>
            <p:cNvGrpSpPr/>
            <p:nvPr/>
          </p:nvGrpSpPr>
          <p:grpSpPr>
            <a:xfrm>
              <a:off x="4911275" y="821275"/>
              <a:ext cx="3154500" cy="2853600"/>
              <a:chOff x="4911288" y="821275"/>
              <a:chExt cx="3154500" cy="2853600"/>
            </a:xfrm>
          </p:grpSpPr>
          <p:sp>
            <p:nvSpPr>
              <p:cNvPr id="73" name="Google Shape;73;p15"/>
              <p:cNvSpPr/>
              <p:nvPr/>
            </p:nvSpPr>
            <p:spPr>
              <a:xfrm>
                <a:off x="4911288" y="821275"/>
                <a:ext cx="3154500" cy="2853600"/>
              </a:xfrm>
              <a:prstGeom prst="roundRect">
                <a:avLst>
                  <a:gd fmla="val 16667" name="adj"/>
                </a:avLst>
              </a:prstGeom>
              <a:solidFill>
                <a:srgbClr val="C9DAF8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1362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59"/>
              </a:p>
            </p:txBody>
          </p:sp>
          <p:sp>
            <p:nvSpPr>
              <p:cNvPr id="74" name="Google Shape;74;p15"/>
              <p:cNvSpPr txBox="1"/>
              <p:nvPr/>
            </p:nvSpPr>
            <p:spPr>
              <a:xfrm>
                <a:off x="5045087" y="943750"/>
                <a:ext cx="2886900" cy="44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9200" lIns="69200" spcFirstLastPara="1" rIns="69200" wrap="square" tIns="69200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432">
                    <a:solidFill>
                      <a:schemeClr val="dk1"/>
                    </a:solidFill>
                  </a:rPr>
                  <a:t>      NVIDIA JETSON NANO</a:t>
                </a:r>
                <a:r>
                  <a:rPr b="1" lang="en" sz="1962">
                    <a:solidFill>
                      <a:schemeClr val="dk1"/>
                    </a:solidFill>
                  </a:rPr>
                  <a:t> </a:t>
                </a:r>
                <a:endParaRPr sz="1362">
                  <a:solidFill>
                    <a:schemeClr val="dk2"/>
                  </a:solidFill>
                </a:endParaRPr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5028663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Audio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Wake word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Cmd reco</a:t>
                </a:r>
                <a:r>
                  <a:rPr lang="en" sz="1200">
                    <a:solidFill>
                      <a:schemeClr val="dk1"/>
                    </a:solidFill>
                  </a:rPr>
                  <a:t>g</a:t>
                </a:r>
                <a:endParaRPr sz="1200"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6656038" y="1523100"/>
                <a:ext cx="1316400" cy="1145700"/>
              </a:xfrm>
              <a:prstGeom prst="roundRect">
                <a:avLst>
                  <a:gd fmla="val 16667" name="adj"/>
                </a:avLst>
              </a:prstGeom>
              <a:solidFill>
                <a:srgbClr val="D9EAD3"/>
              </a:solidFill>
              <a:ln cap="flat" cmpd="sng" w="7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9200" lIns="69200" spcFirstLastPara="1" rIns="69200" wrap="square" tIns="69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F497D"/>
                    </a:solidFill>
                  </a:rPr>
                  <a:t>Vision AI</a:t>
                </a:r>
                <a:endParaRPr b="1" sz="1200">
                  <a:solidFill>
                    <a:srgbClr val="1F497D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Object detect</a:t>
                </a:r>
                <a:endParaRPr sz="1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</a:rPr>
                  <a:t>Face recog</a:t>
                </a:r>
                <a:endParaRPr sz="1200">
                  <a:solidFill>
                    <a:schemeClr val="dk1"/>
                  </a:solidFill>
                </a:endParaRPr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4972031" y="2723223"/>
                <a:ext cx="3033018" cy="884898"/>
              </a:xfrm>
              <a:prstGeom prst="flowChartTerminator">
                <a:avLst/>
              </a:prstGeom>
              <a:solidFill>
                <a:srgbClr val="00FF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Recording DATA 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Store</a:t>
                </a:r>
                <a:r>
                  <a:rPr lang="en"/>
                  <a:t> </a:t>
                </a:r>
                <a:r>
                  <a:rPr lang="en"/>
                  <a:t>to </a:t>
                </a:r>
                <a:r>
                  <a:rPr lang="en"/>
                  <a:t>microSD/SSD</a:t>
                </a:r>
                <a:endParaRPr sz="1100"/>
              </a:p>
            </p:txBody>
          </p:sp>
        </p:grpSp>
      </p:grpSp>
      <p:grpSp>
        <p:nvGrpSpPr>
          <p:cNvPr id="78" name="Google Shape;78;p15"/>
          <p:cNvGrpSpPr/>
          <p:nvPr/>
        </p:nvGrpSpPr>
        <p:grpSpPr>
          <a:xfrm>
            <a:off x="388750" y="1394088"/>
            <a:ext cx="4328943" cy="1457436"/>
            <a:chOff x="181600" y="1261013"/>
            <a:chExt cx="4328943" cy="1457436"/>
          </a:xfrm>
        </p:grpSpPr>
        <p:sp>
          <p:nvSpPr>
            <p:cNvPr id="79" name="Google Shape;79;p15"/>
            <p:cNvSpPr/>
            <p:nvPr/>
          </p:nvSpPr>
          <p:spPr>
            <a:xfrm>
              <a:off x="181600" y="1261013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Microphone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Wake-word/signal</a:t>
              </a:r>
              <a:endParaRPr sz="12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089188" y="170337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Camera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(Face Detection)</a:t>
              </a:r>
              <a:endParaRPr sz="1200"/>
            </a:p>
          </p:txBody>
        </p:sp>
        <p:pic>
          <p:nvPicPr>
            <p:cNvPr id="81" name="Google Shape;8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297350" y="1804343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5"/>
            <p:cNvSpPr/>
            <p:nvPr/>
          </p:nvSpPr>
          <p:spPr>
            <a:xfrm>
              <a:off x="181600" y="2145725"/>
              <a:ext cx="1616436" cy="572724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Motion Sensor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Movement</a:t>
              </a:r>
              <a:endParaRPr sz="1200"/>
            </a:p>
          </p:txBody>
        </p:sp>
        <p:pic>
          <p:nvPicPr>
            <p:cNvPr id="83" name="Google Shape;83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05613" y="1804341"/>
              <a:ext cx="804930" cy="370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Hardware Requirements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088" y="1017713"/>
            <a:ext cx="2954612" cy="29546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6"/>
          <p:cNvGraphicFramePr/>
          <p:nvPr/>
        </p:nvGraphicFramePr>
        <p:xfrm>
          <a:off x="311700" y="108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{25ACCB4B-F3A8-4BB8-B9B0-80214B2C35FC}</a:tableStyleId>
              </a:tblPr>
              <a:tblGrid>
                <a:gridCol w="3563025"/>
                <a:gridCol w="1677875"/>
              </a:tblGrid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Component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Estimated Cost (USD)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NVIDIA Jetson Nano (4 GB Dev Kit)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$99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Camera Module (USB / Pi Cam V2)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MEMS Mic Array (e.g., ReSpeaker 2-Mic HAT)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$20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Buzzer / Mini Speaker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LED Indicator (optional)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$2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32 GB MicroSD Card (UHS-1)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$10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5V 4A Power Supply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Breadboard &amp; Jumper Wires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6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Monitor &amp; HDMI Cable (optional)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lt1"/>
                          </a:solidFill>
                        </a:rPr>
                        <a:t>$15</a:t>
                      </a:r>
                      <a:endParaRPr i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68575" marL="68575">
                    <a:lnL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6"/>
          <p:cNvSpPr txBox="1"/>
          <p:nvPr/>
        </p:nvSpPr>
        <p:spPr>
          <a:xfrm>
            <a:off x="5763100" y="4277850"/>
            <a:ext cx="30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total hardware cost: $150 – $170 USD.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Software Requirements (Probable)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42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Operating System &amp; Environment: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JetPack 5.x (Ubuntu 20.04 L4T with CUDA, cuDNN, TensorRT)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Python 3.8 + pip / virtualenv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lt1"/>
                </a:solidFill>
              </a:rPr>
              <a:t>AI Frameworks &amp; Libraries: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Wake-word detection:</a:t>
            </a:r>
            <a:r>
              <a:rPr lang="en" sz="1100">
                <a:solidFill>
                  <a:schemeClr val="lt1"/>
                </a:solidFill>
              </a:rPr>
              <a:t> Mycroft Precise / Picovoice Porcupine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Speech command:</a:t>
            </a:r>
            <a:r>
              <a:rPr lang="en" sz="1100">
                <a:solidFill>
                  <a:schemeClr val="lt1"/>
                </a:solidFill>
              </a:rPr>
              <a:t> jetson-voice / Whisper-tiny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Object detection:</a:t>
            </a:r>
            <a:r>
              <a:rPr lang="en" sz="1100">
                <a:solidFill>
                  <a:schemeClr val="lt1"/>
                </a:solidFill>
              </a:rPr>
              <a:t> YOLOv5-Nano / SSD MobileNet-V2 (PyTorch → TensorRT)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Face recognition:</a:t>
            </a:r>
            <a:r>
              <a:rPr lang="en" sz="1100">
                <a:solidFill>
                  <a:schemeClr val="lt1"/>
                </a:solidFill>
              </a:rPr>
              <a:t> face_recognition (Dlib) / DeepFace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</a:rPr>
              <a:t>Optimization &amp; vision:</a:t>
            </a:r>
            <a:r>
              <a:rPr lang="en" sz="1100">
                <a:solidFill>
                  <a:schemeClr val="lt1"/>
                </a:solidFill>
              </a:rPr>
              <a:t> TensorRT, OpenCV, NumPy, Matplotlib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572000" y="1152475"/>
            <a:ext cx="425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System &amp; Integration Tools: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Jetson-Inference / Jetson-Utils (camera + inference)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Flask / MQTT (local alert dashboard)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ReSpeaker drivers (microphone support)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Tegrastats (performance monitoring)</a:t>
            </a:r>
            <a:br>
              <a:rPr lang="en" sz="1100">
                <a:solidFill>
                  <a:schemeClr val="lt1"/>
                </a:solidFill>
              </a:rPr>
            </a:b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Development &amp; Deployment Tools: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VS Code / JupyterLab for coding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Git + GitHub for version control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PuTTY / Termius for SSH access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NVIDIA SDK Manager for setup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Docker / Jetson Containers for runtime isolation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Draw.io / PowerPoint for workflow &amp; presentation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Thank You!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