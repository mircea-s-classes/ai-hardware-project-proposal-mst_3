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Antoni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18F284-DD9E-4B3B-AF2E-C9D7FBB2357A}">
  <a:tblStyle styleId="{DA18F284-DD9E-4B3B-AF2E-C9D7FBB235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Antonio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Antoni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2253bd60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2253bd60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ee1652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ee165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2253bd60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2253bd60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2253bd60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2253bd60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2253bd605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2253bd60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2253bd60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2253bd60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ecedf50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ecedf5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2253bd605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2253bd605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2253bd605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2253bd605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2253bd605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2253bd605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cedf50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ecedf50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2253bd605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2253bd605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0cee1652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0cee165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2253bd60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2253bd60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ircea-s-classes/ai-hardware-project-proposal-mst_3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Mircea-s-classes/ai-hardware-project-proposal-mst_3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92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rPr>
              <a:t>Sentinel-AI</a:t>
            </a:r>
            <a:endParaRPr>
              <a:solidFill>
                <a:schemeClr val="lt1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038550"/>
            <a:ext cx="85206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" sz="5200">
                <a:solidFill>
                  <a:schemeClr val="lt1"/>
                </a:solidFill>
              </a:rPr>
              <a:t>Voice &amp; Motion Activated Multimodal Edge Security System</a:t>
            </a:r>
            <a:endParaRPr sz="5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t/>
            </a:r>
            <a:endParaRPr sz="5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i="1" lang="en" sz="5200" u="sng">
                <a:solidFill>
                  <a:schemeClr val="lt1"/>
                </a:solidFill>
              </a:rPr>
              <a:t>Final Presentation</a:t>
            </a:r>
            <a:endParaRPr i="1" sz="5200" u="sng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475875" y="3302575"/>
            <a:ext cx="32199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Presenters : 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Mughesh Kumar NR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Md Nasim Afroj Taj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Uttam Kumar Saha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700" y="415650"/>
            <a:ext cx="97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2"/>
                </a:solidFill>
              </a:rPr>
              <a:t>MST_3</a:t>
            </a:r>
            <a:endParaRPr b="1" i="1" sz="1800">
              <a:solidFill>
                <a:schemeClr val="lt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11700" y="4370300"/>
            <a:ext cx="85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Github Repo: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https://github.com/Mircea-s-classes/ai-hardware-project-proposal-mst_3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Team Roles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71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{DA18F284-DD9E-4B3B-AF2E-C9D7FBB2357A}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Name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Role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Mugesh Kumar NR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Software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Md Nasim Afroj Taj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Hardware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Uttam Kumar Saha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Integration, Evaluation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5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Motivation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823325"/>
            <a:ext cx="86247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Why Sentinel-AI?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Traditional CCTV systems record continuously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High energy consumption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Large storage waste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Cloud-based surveillance: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Privacy risks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Network latency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Existing systems lack context awareness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Our Goal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B</a:t>
            </a:r>
            <a:r>
              <a:rPr lang="en">
                <a:solidFill>
                  <a:schemeClr val="lt1"/>
                </a:solidFill>
              </a:rPr>
              <a:t>uild a smart, self-aware edge security system that: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Activates only when needed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Runs fully offline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Combines audio + vision intelligence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15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Key Design Principles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823325"/>
            <a:ext cx="86247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Energy Efficiency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Wake-on-event instead of continuous recording</a:t>
            </a:r>
            <a:endParaRPr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Privacy &amp; Security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Local inference, no cloud dependency</a:t>
            </a:r>
            <a:endParaRPr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Multimodal Intelligence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Audio + vision for better context</a:t>
            </a:r>
            <a:endParaRPr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Edge Deployment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Designed for Jetson Nano–class hardware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088" y="1017713"/>
            <a:ext cx="2954612" cy="2954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6370100" y="4093100"/>
            <a:ext cx="17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Concept Image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15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Related Work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823325"/>
            <a:ext cx="86247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Conventional CCTV systems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Cloud-based smart cameras (e.g., Ring, Nest)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Edge AI vision systems (YOLO-based detectors)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Limitations of Prior Approaches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Continuous operation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Cloud dependence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High latency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Limited multimodal integration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Our Differentiation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Event-driven activation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Fully offline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Lightweight edge-friendly pipeline (only 4 photos required)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15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Hardware &amp; Platform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823325"/>
            <a:ext cx="86247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Target Hardware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NVIDIA Jetson Nano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ARM CPU + CUDA-capable GPU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Designed for edge AI inference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Sensors &amp; I/O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USB Camera (video stream)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Microphone (voice trigger – planned)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Local storage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Software Stack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JavaScript + HTML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face-api.js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WebRTC camera access</a:t>
            </a:r>
            <a:endParaRPr>
              <a:solidFill>
                <a:schemeClr val="lt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>
                <a:solidFill>
                  <a:schemeClr val="lt1"/>
                </a:solidFill>
              </a:rPr>
              <a:t>On-device ML inference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6529" y="536550"/>
            <a:ext cx="3056306" cy="407040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5421775" y="4606950"/>
            <a:ext cx="17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Jetson Nano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5800800" y="74850"/>
            <a:ext cx="17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Camera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5421775" y="1717225"/>
            <a:ext cx="17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Video Feed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7322791" y="734565"/>
            <a:ext cx="58800" cy="48300"/>
          </a:xfrm>
          <a:prstGeom prst="ellipse">
            <a:avLst/>
          </a:prstGeom>
          <a:solidFill>
            <a:srgbClr val="34260D"/>
          </a:solidFill>
          <a:ln cap="flat" cmpd="sng" w="9525">
            <a:solidFill>
              <a:srgbClr val="3426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63575" y="111050"/>
            <a:ext cx="86688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Workflow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102" name="Google Shape;102;p19"/>
          <p:cNvGrpSpPr/>
          <p:nvPr/>
        </p:nvGrpSpPr>
        <p:grpSpPr>
          <a:xfrm>
            <a:off x="4911275" y="821275"/>
            <a:ext cx="3154500" cy="4136425"/>
            <a:chOff x="4911275" y="821275"/>
            <a:chExt cx="3154500" cy="4136425"/>
          </a:xfrm>
        </p:grpSpPr>
        <p:grpSp>
          <p:nvGrpSpPr>
            <p:cNvPr id="103" name="Google Shape;103;p19"/>
            <p:cNvGrpSpPr/>
            <p:nvPr/>
          </p:nvGrpSpPr>
          <p:grpSpPr>
            <a:xfrm>
              <a:off x="5793275" y="3674875"/>
              <a:ext cx="1390500" cy="1282825"/>
              <a:chOff x="5793275" y="3674875"/>
              <a:chExt cx="1390500" cy="1282825"/>
            </a:xfrm>
          </p:grpSpPr>
          <p:sp>
            <p:nvSpPr>
              <p:cNvPr id="104" name="Google Shape;104;p19"/>
              <p:cNvSpPr/>
              <p:nvPr/>
            </p:nvSpPr>
            <p:spPr>
              <a:xfrm>
                <a:off x="5793275" y="4342262"/>
                <a:ext cx="1390500" cy="615438"/>
              </a:xfrm>
              <a:prstGeom prst="flowChartTerminator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Buzzer / Speaker </a:t>
                </a:r>
                <a:endParaRPr/>
              </a:p>
            </p:txBody>
          </p:sp>
          <p:pic>
            <p:nvPicPr>
              <p:cNvPr id="105" name="Google Shape;105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399996">
                <a:off x="6195662" y="3801926"/>
                <a:ext cx="585725" cy="331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6" name="Google Shape;106;p19"/>
            <p:cNvGrpSpPr/>
            <p:nvPr/>
          </p:nvGrpSpPr>
          <p:grpSpPr>
            <a:xfrm>
              <a:off x="4911275" y="821275"/>
              <a:ext cx="3154500" cy="2853600"/>
              <a:chOff x="4911288" y="821275"/>
              <a:chExt cx="3154500" cy="2853600"/>
            </a:xfrm>
          </p:grpSpPr>
          <p:sp>
            <p:nvSpPr>
              <p:cNvPr id="107" name="Google Shape;107;p19"/>
              <p:cNvSpPr/>
              <p:nvPr/>
            </p:nvSpPr>
            <p:spPr>
              <a:xfrm>
                <a:off x="4911288" y="821275"/>
                <a:ext cx="3154500" cy="28536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1362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59"/>
              </a:p>
            </p:txBody>
          </p:sp>
          <p:sp>
            <p:nvSpPr>
              <p:cNvPr id="108" name="Google Shape;108;p19"/>
              <p:cNvSpPr txBox="1"/>
              <p:nvPr/>
            </p:nvSpPr>
            <p:spPr>
              <a:xfrm>
                <a:off x="5045087" y="943750"/>
                <a:ext cx="2886900" cy="44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200" lIns="69200" spcFirstLastPara="1" rIns="69200" wrap="square" tIns="69200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432">
                    <a:solidFill>
                      <a:schemeClr val="dk1"/>
                    </a:solidFill>
                  </a:rPr>
                  <a:t>      NVIDIA JETSON NANO</a:t>
                </a:r>
                <a:r>
                  <a:rPr b="1" lang="en" sz="1962">
                    <a:solidFill>
                      <a:schemeClr val="dk1"/>
                    </a:solidFill>
                  </a:rPr>
                  <a:t> </a:t>
                </a:r>
                <a:endParaRPr sz="1362">
                  <a:solidFill>
                    <a:schemeClr val="dk2"/>
                  </a:solidFill>
                </a:endParaRPr>
              </a:p>
            </p:txBody>
          </p:sp>
          <p:sp>
            <p:nvSpPr>
              <p:cNvPr id="109" name="Google Shape;109;p19"/>
              <p:cNvSpPr/>
              <p:nvPr/>
            </p:nvSpPr>
            <p:spPr>
              <a:xfrm>
                <a:off x="5028663" y="1523100"/>
                <a:ext cx="1316400" cy="1145700"/>
              </a:xfrm>
              <a:prstGeom prst="roundRect">
                <a:avLst>
                  <a:gd fmla="val 16667" name="adj"/>
                </a:avLst>
              </a:prstGeom>
              <a:solidFill>
                <a:srgbClr val="D9EAD3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F497D"/>
                    </a:solidFill>
                  </a:rPr>
                  <a:t>Audio AI</a:t>
                </a:r>
                <a:endParaRPr b="1" sz="1200">
                  <a:solidFill>
                    <a:srgbClr val="1F497D"/>
                  </a:solidFill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Wake word</a:t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Cmd recog</a:t>
                </a:r>
                <a:endParaRPr sz="1200"/>
              </a:p>
            </p:txBody>
          </p:sp>
          <p:sp>
            <p:nvSpPr>
              <p:cNvPr id="110" name="Google Shape;110;p19"/>
              <p:cNvSpPr/>
              <p:nvPr/>
            </p:nvSpPr>
            <p:spPr>
              <a:xfrm>
                <a:off x="6656038" y="1523100"/>
                <a:ext cx="1316400" cy="1145700"/>
              </a:xfrm>
              <a:prstGeom prst="roundRect">
                <a:avLst>
                  <a:gd fmla="val 16667" name="adj"/>
                </a:avLst>
              </a:prstGeom>
              <a:solidFill>
                <a:srgbClr val="D9EAD3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F497D"/>
                    </a:solidFill>
                  </a:rPr>
                  <a:t>Vision AI</a:t>
                </a:r>
                <a:endParaRPr b="1" sz="1200">
                  <a:solidFill>
                    <a:srgbClr val="1F497D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Object detect</a:t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Face recog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111" name="Google Shape;111;p19"/>
              <p:cNvSpPr/>
              <p:nvPr/>
            </p:nvSpPr>
            <p:spPr>
              <a:xfrm>
                <a:off x="4972031" y="2723223"/>
                <a:ext cx="3033018" cy="884898"/>
              </a:xfrm>
              <a:prstGeom prst="flowChartTerminator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Recording DATA 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Store to microSD/SSD</a:t>
                </a:r>
                <a:endParaRPr sz="1100"/>
              </a:p>
            </p:txBody>
          </p:sp>
        </p:grpSp>
      </p:grpSp>
      <p:grpSp>
        <p:nvGrpSpPr>
          <p:cNvPr id="112" name="Google Shape;112;p19"/>
          <p:cNvGrpSpPr/>
          <p:nvPr/>
        </p:nvGrpSpPr>
        <p:grpSpPr>
          <a:xfrm>
            <a:off x="388750" y="1394088"/>
            <a:ext cx="4511680" cy="1457436"/>
            <a:chOff x="181600" y="1261013"/>
            <a:chExt cx="4511680" cy="1457436"/>
          </a:xfrm>
        </p:grpSpPr>
        <p:sp>
          <p:nvSpPr>
            <p:cNvPr id="113" name="Google Shape;113;p19"/>
            <p:cNvSpPr/>
            <p:nvPr/>
          </p:nvSpPr>
          <p:spPr>
            <a:xfrm>
              <a:off x="181600" y="1261013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Microphone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Wake-word/signal</a:t>
              </a:r>
              <a:endParaRPr sz="1200"/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2271913" y="1703375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Camera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(Face Detection)</a:t>
              </a:r>
              <a:endParaRPr sz="1200"/>
            </a:p>
          </p:txBody>
        </p:sp>
        <p:pic>
          <p:nvPicPr>
            <p:cNvPr id="115" name="Google Shape;115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80075" y="1804343"/>
              <a:ext cx="804930" cy="37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9"/>
            <p:cNvSpPr/>
            <p:nvPr/>
          </p:nvSpPr>
          <p:spPr>
            <a:xfrm>
              <a:off x="181600" y="2145725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Motion Sensor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Movement</a:t>
              </a:r>
              <a:endParaRPr sz="1200"/>
            </a:p>
          </p:txBody>
        </p:sp>
        <p:pic>
          <p:nvPicPr>
            <p:cNvPr id="117" name="Google Shape;117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88350" y="1804341"/>
              <a:ext cx="804930" cy="3707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8" name="Google Shape;118;p19"/>
          <p:cNvCxnSpPr/>
          <p:nvPr/>
        </p:nvCxnSpPr>
        <p:spPr>
          <a:xfrm>
            <a:off x="406235" y="1411588"/>
            <a:ext cx="1590300" cy="54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406235" y="2299338"/>
            <a:ext cx="1590300" cy="54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>
            <a:off x="5016135" y="1583258"/>
            <a:ext cx="1326600" cy="1026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9"/>
          <p:cNvCxnSpPr/>
          <p:nvPr/>
        </p:nvCxnSpPr>
        <p:spPr>
          <a:xfrm>
            <a:off x="5693385" y="4376188"/>
            <a:ext cx="1590300" cy="5448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487450" y="3635975"/>
            <a:ext cx="45117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System is designed to </a:t>
            </a:r>
            <a:endParaRPr sz="1800">
              <a:solidFill>
                <a:schemeClr val="lt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“listen → see → decide → act”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47125" y="43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Algorithm - MTCNN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152475"/>
            <a:ext cx="467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lang="en" sz="1145">
                <a:solidFill>
                  <a:schemeClr val="lt1"/>
                </a:solidFill>
              </a:rPr>
              <a:t>MTCNN is a deep learning model used for face detection and for finding key facial points like the eyes, nose, and mouth.</a:t>
            </a: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lang="en" sz="1145">
                <a:solidFill>
                  <a:schemeClr val="lt1"/>
                </a:solidFill>
              </a:rPr>
              <a:t>It is considered a lightweight model because it needs very little training data. MTCNN can work well even with around 4 training images, while regular CNN models usually need more than 1000 images to reach good accuracy.</a:t>
            </a: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lang="en" sz="1145">
                <a:solidFill>
                  <a:schemeClr val="lt1"/>
                </a:solidFill>
              </a:rPr>
              <a:t>MTCNN has three main parts: </a:t>
            </a:r>
            <a:r>
              <a:rPr b="1" lang="en" sz="1145">
                <a:solidFill>
                  <a:schemeClr val="lt1"/>
                </a:solidFill>
              </a:rPr>
              <a:t>P-Net, R-Net, and O-Net</a:t>
            </a:r>
            <a:r>
              <a:rPr lang="en" sz="1145">
                <a:solidFill>
                  <a:schemeClr val="lt1"/>
                </a:solidFill>
              </a:rPr>
              <a:t>.</a:t>
            </a:r>
            <a:br>
              <a:rPr lang="en" sz="1145">
                <a:solidFill>
                  <a:schemeClr val="lt1"/>
                </a:solidFill>
              </a:rPr>
            </a:b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b="1" lang="en" sz="1145">
                <a:solidFill>
                  <a:schemeClr val="lt1"/>
                </a:solidFill>
              </a:rPr>
              <a:t>P-Net</a:t>
            </a:r>
            <a:r>
              <a:rPr lang="en" sz="1145">
                <a:solidFill>
                  <a:schemeClr val="lt1"/>
                </a:solidFill>
              </a:rPr>
              <a:t> stands for Proposal Network. It gives the first set of possible face regions.</a:t>
            </a:r>
            <a:br>
              <a:rPr lang="en" sz="1145">
                <a:solidFill>
                  <a:schemeClr val="lt1"/>
                </a:solidFill>
              </a:rPr>
            </a:b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b="1" lang="en" sz="1145">
                <a:solidFill>
                  <a:schemeClr val="lt1"/>
                </a:solidFill>
              </a:rPr>
              <a:t>R-Net</a:t>
            </a:r>
            <a:r>
              <a:rPr lang="en" sz="1145">
                <a:solidFill>
                  <a:schemeClr val="lt1"/>
                </a:solidFill>
              </a:rPr>
              <a:t> is the Refine Network. It checks these regions again and improves the bounding boxes.</a:t>
            </a:r>
            <a:br>
              <a:rPr lang="en" sz="1145">
                <a:solidFill>
                  <a:schemeClr val="lt1"/>
                </a:solidFill>
              </a:rPr>
            </a:b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b="1" lang="en" sz="1145">
                <a:solidFill>
                  <a:schemeClr val="lt1"/>
                </a:solidFill>
              </a:rPr>
              <a:t>O-Net</a:t>
            </a:r>
            <a:r>
              <a:rPr lang="en" sz="1145">
                <a:solidFill>
                  <a:schemeClr val="lt1"/>
                </a:solidFill>
              </a:rPr>
              <a:t> is the Output Network. It gives the final results, including the exact face area and the facial landmarks.</a:t>
            </a:r>
            <a:br>
              <a:rPr lang="en" sz="1145">
                <a:solidFill>
                  <a:schemeClr val="lt1"/>
                </a:solidFill>
              </a:rPr>
            </a:b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lang="en" sz="1145">
                <a:solidFill>
                  <a:schemeClr val="lt1"/>
                </a:solidFill>
              </a:rPr>
              <a:t>All three networks are small convolutional neural networks, which makes the whole model fast. </a:t>
            </a:r>
            <a:r>
              <a:rPr lang="en" sz="457">
                <a:solidFill>
                  <a:schemeClr val="dk1"/>
                </a:solidFill>
              </a:rPr>
              <a:t>efficie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000" y="1438800"/>
            <a:ext cx="4023000" cy="284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Dataset &amp; Training Setup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Only 4 Labeled images per user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Multiple images per identity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Stored locally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Face descriptors computed dynamically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Current Labels (Demo)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Mughesh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System supports easy extension by adding only 4 images to label folders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432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What Works Well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Real-time face detection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Accurate recognition under good lighting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Smooth bounding box rendering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Fully offline operation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Performance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Near real-time inference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Lightweight memory footprint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Edge-friendly compute requirements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3" name="Google Shape;143;p22" title="Screenshot 2025-12-17 1314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050" y="1237649"/>
            <a:ext cx="4178600" cy="30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Challenges &amp; Limitations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Lighting sensitivity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Limited dataset size results in low accuracy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Audio trigger not yet integrated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Not optimized for Jetson Nano CUDA pipeline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Future Work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Motion-triggered activation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Alert system (LED / buzzer / notification)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Model optimization (TensorRT)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Expanded identity database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Demonstrated a privacy-preserving edge AI security system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Event-driven, multimodal design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Lightweight and extensible archi</a:t>
            </a:r>
            <a:r>
              <a:rPr lang="en">
                <a:solidFill>
                  <a:schemeClr val="lt1"/>
                </a:solidFill>
              </a:rPr>
              <a:t>t</a:t>
            </a:r>
            <a:r>
              <a:rPr lang="en">
                <a:solidFill>
                  <a:schemeClr val="lt1"/>
                </a:solidFill>
              </a:rPr>
              <a:t>ecture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Strong foundation for real-world deployment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11700" y="13029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Thank You!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311700" y="3358325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GitHub Repository: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https://github.com/Mircea-s-classes/ai-hardware-project-proposal-mst_3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References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M. S. Khan, M. A. Khan, A. Jamalipour, and D. N. K. Jayakody, “Cloud-based smart surveillance systems: A survey,” IEEE Access, vol. 8, pp. 192839–192861, 2020, doi: 10.1109/ACCESS.2020.3033167.</a:t>
            </a:r>
            <a:endParaRPr>
              <a:solidFill>
                <a:schemeClr val="lt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Y. Kang, J. Hauswald, C. Gao, A. Rovinski, T. Mudge, J. Mars, and L. Tang, “Neurosurgeon: Collaborative intelligence between the cloud and mobile edge,” ACM SIGARCH Computer Architecture News, vol. 45, no. 1, pp. 615–629, 2017.</a:t>
            </a:r>
            <a:endParaRPr>
              <a:solidFill>
                <a:schemeClr val="lt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NVIDIA Corporation, Jetson Nano Developer Kit: Bringing AI to the Edge, White Paper, 2019. [Online]. Available: https://developer.nvidia.com/embedded/jetson-nano-developer-kit</a:t>
            </a:r>
            <a:endParaRPr>
              <a:solidFill>
                <a:schemeClr val="lt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F. Schroff, D. Kalenichenko, and J. Philbin, “FaceNet: A unified embedding for face recognition and clustering,” in Proc. IEEE Conf. Computer Vision and Pattern Recognition (CVPR), Boston, MA, USA, 2015, pp. 815–823, doi: 10.1109/CVPR.2015.7298682.</a:t>
            </a:r>
            <a:endParaRPr>
              <a:solidFill>
                <a:schemeClr val="lt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A. G. Howard et al., “MobileNets: Efficient convolutional neural networks for mobile vision applications,” arXiv:1704.04861, 2017.</a:t>
            </a:r>
            <a:endParaRPr>
              <a:solidFill>
                <a:schemeClr val="lt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V. Vinayak, “face-api.js: JavaScript API for face detection and face recognition,” GitHub repository, 2018–present. [Online]. Available: https://github.com/justadudewhohacks/face-api.js</a:t>
            </a:r>
            <a:endParaRPr>
              <a:solidFill>
                <a:schemeClr val="lt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World Wide Web Consortium (W3C), Media Capture and Streams Specification, W3C Recommendation, 2017. [Online]. Available: https://www.w3.org/TR/mediacapture-streams/</a:t>
            </a:r>
            <a:endParaRPr>
              <a:solidFill>
                <a:schemeClr val="lt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T. N. Sainath and C. Parada, “Convolutional neural networks for small-footprint keyword spotting,” in Proc. Interspeech, Dresden, Germany, 2015, pp. 1478–1482.</a:t>
            </a:r>
            <a:endParaRPr>
              <a:solidFill>
                <a:schemeClr val="lt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Y. Zhang, X. Wang, and M. Chen, “Multimodal event-driven artificial intelligence systems for smart environments,” IEEE Internet of Things Journal, vol. 8, no. 6, pp. 4587–4599, Mar. 2021, doi: 10.1109/JIOT.2020.3048721.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